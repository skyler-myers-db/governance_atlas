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Hanken Grotesk SemiBold"/>
      <p:regular r:id="rId10"/>
      <p:bold r:id="rId11"/>
      <p:italic r:id="rId12"/>
      <p:boldItalic r:id="rId13"/>
    </p:embeddedFont>
    <p:embeddedFont>
      <p:font typeface="Titillium Web"/>
      <p:regular r:id="rId14"/>
      <p:bold r:id="rId15"/>
      <p:italic r:id="rId16"/>
      <p:boldItalic r:id="rId17"/>
    </p:embeddedFont>
    <p:embeddedFont>
      <p:font typeface="Instrument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strumentSans-italic.fntdata"/><Relationship Id="rId11" Type="http://schemas.openxmlformats.org/officeDocument/2006/relationships/font" Target="fonts/HankenGroteskSemiBold-bold.fntdata"/><Relationship Id="rId10" Type="http://schemas.openxmlformats.org/officeDocument/2006/relationships/font" Target="fonts/HankenGroteskSemiBold-regular.fntdata"/><Relationship Id="rId21" Type="http://schemas.openxmlformats.org/officeDocument/2006/relationships/font" Target="fonts/InstrumentSans-boldItalic.fntdata"/><Relationship Id="rId13" Type="http://schemas.openxmlformats.org/officeDocument/2006/relationships/font" Target="fonts/HankenGroteskSemiBold-boldItalic.fntdata"/><Relationship Id="rId12" Type="http://schemas.openxmlformats.org/officeDocument/2006/relationships/font" Target="fonts/HankenGrotesk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TitilliumWeb-bold.fntdata"/><Relationship Id="rId14" Type="http://schemas.openxmlformats.org/officeDocument/2006/relationships/font" Target="fonts/TitilliumWeb-regular.fntdata"/><Relationship Id="rId17" Type="http://schemas.openxmlformats.org/officeDocument/2006/relationships/font" Target="fonts/TitilliumWeb-boldItalic.fntdata"/><Relationship Id="rId16" Type="http://schemas.openxmlformats.org/officeDocument/2006/relationships/font" Target="fonts/TitilliumWeb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strumentSans-bold.fntdata"/><Relationship Id="rId6" Type="http://schemas.openxmlformats.org/officeDocument/2006/relationships/slide" Target="slides/slide1.xml"/><Relationship Id="rId18" Type="http://schemas.openxmlformats.org/officeDocument/2006/relationships/font" Target="fonts/Instrument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cd5e61b22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cd5e61b22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cd5e61b22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cd5e61b22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cd5e61b22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cd5e61b22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59150" y="185713"/>
            <a:ext cx="73980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Entrada Brand Style Guide</a:t>
            </a:r>
            <a:endParaRPr sz="2800">
              <a:latin typeface="Hanken Grotesk SemiBold"/>
              <a:ea typeface="Hanken Grotesk SemiBold"/>
              <a:cs typeface="Hanken Grotesk SemiBold"/>
              <a:sym typeface="Hanken Grotesk SemiBol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33250" y="914513"/>
            <a:ext cx="85098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Headers: Hanken Grotesk semi-bold</a:t>
            </a:r>
            <a:endParaRPr sz="2400">
              <a:latin typeface="Hanken Grotesk SemiBold"/>
              <a:ea typeface="Hanken Grotesk SemiBold"/>
              <a:cs typeface="Hanken Grotesk SemiBold"/>
              <a:sym typeface="Hanken Grotesk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Instrument Sans"/>
                <a:ea typeface="Instrument Sans"/>
                <a:cs typeface="Instrument Sans"/>
                <a:sym typeface="Instrument Sans"/>
              </a:rPr>
              <a:t>Body: Instrument Sans</a:t>
            </a:r>
            <a:endParaRPr sz="24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4A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Highlighted</a:t>
            </a:r>
            <a:r>
              <a:rPr lang="en" sz="2400">
                <a:latin typeface="Instrument Sans"/>
                <a:ea typeface="Instrument Sans"/>
                <a:cs typeface="Instrument Sans"/>
                <a:sym typeface="Instrument Sans"/>
              </a:rPr>
              <a:t> Text in (</a:t>
            </a:r>
            <a:r>
              <a:rPr lang="en" sz="2400">
                <a:solidFill>
                  <a:srgbClr val="3D84A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#3d84ad</a:t>
            </a:r>
            <a:r>
              <a:rPr lang="en" sz="2400">
                <a:latin typeface="Instrument Sans"/>
                <a:ea typeface="Instrument Sans"/>
                <a:cs typeface="Instrument Sans"/>
                <a:sym typeface="Instrument Sans"/>
              </a:rPr>
              <a:t>)</a:t>
            </a:r>
            <a:endParaRPr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88875" y="3670363"/>
            <a:ext cx="6741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 u="sng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Logo Font: </a:t>
            </a:r>
            <a:r>
              <a:rPr lang="en" sz="25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Conquera Medium</a:t>
            </a:r>
            <a:endParaRPr sz="8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0" l="0" r="0" t="46575"/>
          <a:stretch/>
        </p:blipFill>
        <p:spPr>
          <a:xfrm>
            <a:off x="915825" y="2651832"/>
            <a:ext cx="7391400" cy="7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1863" y="4369208"/>
            <a:ext cx="5632579" cy="58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Social Media Posts</a:t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1475" y="1114225"/>
            <a:ext cx="677967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Social Media Post Sample</a:t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925" y="1123550"/>
            <a:ext cx="725064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PPT Sample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350" y="1086275"/>
            <a:ext cx="6765832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